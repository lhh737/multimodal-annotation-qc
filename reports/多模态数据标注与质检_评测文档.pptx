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C3C2B7"/>
                </a:solidFill>
                <a:latin typeface="Microsoft YaHei"/>
              </a:rPr>
              <a:t>DATA QUALITY /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822960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多模态数据标注与质检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C3C2B7"/>
                </a:solidFill>
                <a:latin typeface="Microsoft YaHei"/>
              </a:rPr>
              <a:t>从标注规范到人工 vs 模型一致性评估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898781"/>
                </a:solidFill>
                <a:latin typeface="Microsoft YaHei"/>
              </a:rPr>
              <a:t>24 条文本 · 6 张图像 · 10 条语音   |   Label Studio 1.23   |   2026.10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个人实训项目 · 所有指标来自实际标注与脚本复算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一页看懂：三个模态，一条质检链路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315468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2918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0B0B0B"/>
                </a:solidFill>
                <a:latin typeface="Microsoft YaHe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2514E"/>
                </a:solidFill>
                <a:latin typeface="Microsoft YaHei"/>
              </a:rPr>
              <a:t>条文本任务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776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21 条正式集 · 3 路标注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291840" cy="315468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291840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91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0B0B0B"/>
                </a:solidFill>
                <a:latin typeface="Microsoft YaHe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2514E"/>
                </a:solidFill>
                <a:latin typeface="Microsoft YaHei"/>
              </a:rPr>
              <a:t>张图像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9776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5 张正式集 · 52 个框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417320"/>
            <a:ext cx="3291840" cy="315468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1417320"/>
            <a:ext cx="3291840" cy="5486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91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AUDIO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0B0B0B"/>
                </a:solidFill>
                <a:latin typeface="Microsoft YaHe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2514E"/>
                </a:solidFill>
                <a:latin typeface="Microsoft YaHei"/>
              </a:rPr>
              <a:t>条语音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9776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CER 5.5% → 1.1%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834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035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9496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0B0B0B"/>
                </a:solidFill>
                <a:latin typeface="Microsoft YaHei"/>
              </a:rPr>
              <a:t>规范 v1.0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13432" y="53949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898781"/>
                </a:solidFill>
                <a:latin typeface="Microsoft YaHe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42032" y="53035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2" y="539496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0B0B0B"/>
                </a:solidFill>
                <a:latin typeface="Microsoft YaHei"/>
              </a:rPr>
              <a:t>3 条试标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23944" y="53949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898781"/>
                </a:solidFill>
                <a:latin typeface="Microsoft YaHe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53035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52544" y="539496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0B0B0B"/>
                </a:solidFill>
                <a:latin typeface="Microsoft YaHei"/>
              </a:rPr>
              <a:t>独立标注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34456" y="53949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898781"/>
                </a:solidFill>
                <a:latin typeface="Microsoft YaHei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5" y="53035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5" y="539496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0B0B0B"/>
                </a:solidFill>
                <a:latin typeface="Microsoft YaHei"/>
              </a:rPr>
              <a:t>100% 复核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44967" y="53949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898781"/>
                </a:solidFill>
                <a:latin typeface="Microsoft YaHe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73568" y="53035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73568" y="539496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0B0B0B"/>
                </a:solidFill>
                <a:latin typeface="Microsoft YaHei"/>
              </a:rPr>
              <a:t>分歧裁决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5394960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0">
                <a:solidFill>
                  <a:srgbClr val="898781"/>
                </a:solidFill>
                <a:latin typeface="Microsoft YaHe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530352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5394960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0B0B0B"/>
                </a:solidFill>
                <a:latin typeface="Microsoft YaHei"/>
              </a:rPr>
              <a:t>质检报告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产出：标注规范、任务数据、可复现脚本、IAA 指标、裁决表与报告。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LABEL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标注体系：四组字段，单选与多选分开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情感（单选）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17320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495044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正面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1417320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1495044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负面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5072" y="1417320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5072" y="1495044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中性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36008" y="1417320"/>
            <a:ext cx="82296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49504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无法判断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方面（多选）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532888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610612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口味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74136" y="2532888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2610612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配送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5072" y="2532888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5072" y="2610612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价格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36008" y="2532888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2610612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服务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66944" y="2532888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66944" y="2610612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卫生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2532888"/>
            <a:ext cx="539496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2610612"/>
            <a:ext cx="539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包装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28816" y="2532888"/>
            <a:ext cx="397764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8816" y="2610612"/>
            <a:ext cx="3977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216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质量标记（多选）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3648456"/>
            <a:ext cx="82296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372618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广告推广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3648456"/>
            <a:ext cx="681228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3726180"/>
            <a:ext cx="6812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含隐私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0268" y="3648456"/>
            <a:ext cx="82296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0268" y="372618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表述不清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44668" y="3648456"/>
            <a:ext cx="964692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4668" y="3726180"/>
            <a:ext cx="9646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模板/刷单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648456"/>
            <a:ext cx="397764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726180"/>
            <a:ext cx="3977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37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置信度（单选）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0" y="4764024"/>
            <a:ext cx="1106424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0" y="4841748"/>
            <a:ext cx="1106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5 非常确定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41064" y="4764024"/>
            <a:ext cx="397764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41064" y="4841748"/>
            <a:ext cx="3977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30268" y="4764024"/>
            <a:ext cx="397764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0268" y="4841748"/>
            <a:ext cx="3977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19472" y="4764024"/>
            <a:ext cx="397764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4841748"/>
            <a:ext cx="3977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08676" y="4764024"/>
            <a:ext cx="964692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08676" y="4841748"/>
            <a:ext cx="9646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1 纯猜测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32520" y="1417320"/>
            <a:ext cx="2697480" cy="402336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6840" y="16459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0B0B0B"/>
                </a:solidFill>
                <a:latin typeface="Microsoft YaHei"/>
              </a:rPr>
              <a:t>设计原则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205740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情感只选一个，避免“又正又负”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2770632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方面只标显式提及，不从情感反推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3483864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质量标记独立，广告/隐私不混入情感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4197096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置信度用于复核路由，不参与金标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完整规则见《标注规范.md》v1.0；试标后修订为 v1.1。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DECISION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判定规则：先看结论，再看证据强度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A78D6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8191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广告 / 无关 / 无意义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476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EB6834"/>
                </a:solidFill>
                <a:latin typeface="Microsoft YaHei"/>
              </a:rPr>
              <a:t>→ 无法判断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5856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并打质量标记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8191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A78D6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58191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有明确结论句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9476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EB6834"/>
                </a:solidFill>
                <a:latin typeface="Microsoft YaHei"/>
              </a:rPr>
              <a:t>→ 按结论句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25856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不要被前面的细节带偏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3464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99923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A78D6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9992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正负相当、态度平淡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649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EB6834"/>
                </a:solidFill>
                <a:latin typeface="Microsoft YaHei"/>
              </a:rPr>
              <a:t>→ 中性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6758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没有明显褒贬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834640"/>
            <a:ext cx="5120640" cy="118872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9923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A78D6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9992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核心体验严重受损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3649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EB6834"/>
                </a:solidFill>
                <a:latin typeface="Microsoft YaHei"/>
              </a:rPr>
              <a:t>→ 负面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67588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否则判正面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4434840"/>
          <a:ext cx="6583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914400"/>
                <a:gridCol w="256032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0B0B"/>
                          </a:solidFill>
                          <a:latin typeface="Microsoft YaHei"/>
                        </a:rPr>
                        <a:t>边界样本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0B0B"/>
                          </a:solidFill>
                          <a:latin typeface="Microsoft YaHei"/>
                        </a:rPr>
                        <a:t>判定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B0B0B"/>
                          </a:solidFill>
                          <a:latin typeface="Microsoft YaHei"/>
                        </a:rPr>
                        <a:t>理由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味道不错，就是有点咸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正面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轻微负向，总体肯定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呵呵，真是“神速”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负面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反讽按真实语义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还行。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中性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超短但可判断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地址 + 手机号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中性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B0B0B"/>
                          </a:solidFill>
                          <a:latin typeface="Microsoft YaHei"/>
                        </a:rPr>
                        <a:t>无褒贬，另标隐私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726679" y="4480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0B0B0B"/>
                </a:solidFill>
                <a:latin typeface="Microsoft YaHei"/>
              </a:rPr>
              <a:t>易错点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84632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混合情感、反讽、超短文本、隐私文本
是本轮 5 条分歧的全部来源。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规则写在标注文档里；模型标注的 system prompt 也使用同一套规则。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流程：试标校准，正式独立，分歧裁决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23160" cy="246888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A78D6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试标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3 条边界样本
先暴露歧义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251460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898781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463040"/>
            <a:ext cx="2423160" cy="246888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645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EB6834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1031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正式标注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60604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3 个账号
overlap=3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1" y="251460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898781"/>
                </a:solidFill>
                <a:latin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463040"/>
            <a:ext cx="2423160" cy="246888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1645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BAF7A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1031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260604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100% 输出分歧
逐条对照规范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2514600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898781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463040"/>
            <a:ext cx="2423160" cy="246888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645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A78D6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10312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裁决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606040"/>
            <a:ext cx="1920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写入 final_label
与 reason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5196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控制点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B0B0B"/>
                </a:solidFill>
                <a:latin typeface="Microsoft YaHei"/>
              </a:rPr>
              <a:t>独立性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617720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3 个账号互不看结果；试标不计入正式统计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B0B0B"/>
                </a:solidFill>
                <a:latin typeface="Microsoft YaHei"/>
              </a:rPr>
              <a:t>可追溯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120640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每条标注记录账号、时间、置信度与理由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23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B0B0B"/>
                </a:solidFill>
                <a:latin typeface="Microsoft YaHei"/>
              </a:rPr>
              <a:t>可复算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623560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导出 JSON → 脚本重算 κ / α / F1 / CER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试标 3 条 → 校准会 → 规范 v1.1 → 正式 21 条；正式集全部 3 路标注。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指标口径：先问“回答什么问题”，再看数值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77724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84048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Microsoft YaHei"/>
                        </a:rPr>
                        <a:t>回答的问题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Microsoft YaHei"/>
                        </a:rPr>
                        <a:t>本轮用途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一致率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同一批任务有多少比例标签相同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直观，但未校正随机一致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Cohen's κ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两个人之间，扣除随机一致后的一致性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人工 vs 各模型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Fleiss' κ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多人、任务完整时的一致性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三路整体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Krippendorff's α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允许缺失值的多标注员一致性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稳健性参考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F1 @ IoU≥0.5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图像框位置与类别是否匹配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图像框质量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CER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转写相对参考文本的字符错误率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语音修正前后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6760" y="1417320"/>
            <a:ext cx="3063240" cy="320040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645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0B0B0B"/>
                </a:solidFill>
                <a:latin typeface="Microsoft YaHei"/>
              </a:rPr>
              <a:t>读法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057400"/>
            <a:ext cx="26060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κ / α &gt; 0.80 较好
0.67–0.80 需讨论规范
&lt; 0.67 应重写规范
阈值不是硬标准，
要结合任务难度和样本量。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本轮文本 κ=0.756、α=0.760，落在“需讨论规范”区间，不是“完美一致”。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本轮结果：文本中等一致，语音修正有效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196596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54864" cy="1965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898781"/>
                </a:solidFill>
                <a:latin typeface="Microsoft YaHei"/>
              </a:rPr>
              <a:t>文本三路一致性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B0B0B"/>
                </a:solidFill>
                <a:latin typeface="Microsoft YaHei"/>
              </a:rPr>
              <a:t>84.1%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Fleiss κ 0.756 · α 0.760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291840" cy="196596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54864" cy="19659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00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898781"/>
                </a:solidFill>
                <a:latin typeface="Microsoft YaHei"/>
              </a:rPr>
              <a:t>图像框数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B0B0B"/>
                </a:solidFill>
                <a:latin typeface="Microsoft YaHei"/>
              </a:rPr>
              <a:t>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803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6 张图 · 5 张正式集 · 单人完成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17320"/>
            <a:ext cx="3291840" cy="196596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417320"/>
            <a:ext cx="54864" cy="19659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00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898781"/>
                </a:solidFill>
                <a:latin typeface="Microsoft YaHei"/>
              </a:rPr>
              <a:t>语音 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659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B0B0B"/>
                </a:solidFill>
                <a:latin typeface="Microsoft YaHei"/>
              </a:rPr>
              <a:t>1.1%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8036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修正前 5.5% · 下降 80.2%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3794760"/>
          <a:ext cx="5669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Microsoft YaHei"/>
                        </a:rPr>
                        <a:t>文本指标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B0B0B"/>
                          </a:solidFill>
                          <a:latin typeface="Microsoft YaHei"/>
                        </a:rPr>
                        <a:t>值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全体一致任务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16 / 21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分歧任务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5 条，全部裁决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方面集合 Jaccard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0.696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语音完全正确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B0B0B"/>
                          </a:solidFill>
                          <a:latin typeface="Microsoft YaHei"/>
                        </a:rPr>
                        <a:t>7 / 9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812280" y="3794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一句话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160520"/>
            <a:ext cx="4480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文本一致性中等，主要风险在边界样本；
语音修正把 CER 从 5.5% 降到 1.1%；
图像只完成单人标注，暂不能算 IAA。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文本正式集 21 条、3 路标注共 63 条；图像为 6 张中的 5 张正式集。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人工 vs 模型：模型更贴规范，但条件不完全对等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423160" y="1709928"/>
            <a:ext cx="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423160" y="1737360"/>
            <a:ext cx="0" cy="2816352"/>
          </a:xfrm>
          <a:prstGeom prst="line">
            <a:avLst/>
          </a:prstGeom>
          <a:ln w="762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77589" y="1709928"/>
            <a:ext cx="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77589" y="1737360"/>
            <a:ext cx="0" cy="2816352"/>
          </a:xfrm>
          <a:prstGeom prst="line">
            <a:avLst/>
          </a:prstGeom>
          <a:ln w="762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32020" y="1709928"/>
            <a:ext cx="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32020" y="1737360"/>
            <a:ext cx="0" cy="2816352"/>
          </a:xfrm>
          <a:prstGeom prst="line">
            <a:avLst/>
          </a:prstGeom>
          <a:ln w="762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86450" y="1709928"/>
            <a:ext cx="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86450" y="1737360"/>
            <a:ext cx="0" cy="2816352"/>
          </a:xfrm>
          <a:prstGeom prst="line">
            <a:avLst/>
          </a:prstGeom>
          <a:ln w="762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40879" y="1709928"/>
            <a:ext cx="0" cy="0"/>
          </a:xfrm>
          <a:prstGeom prst="line">
            <a:avLst/>
          </a:prstGeom>
          <a:ln w="9525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1737360"/>
            <a:ext cx="0" cy="2816352"/>
          </a:xfrm>
          <a:prstGeom prst="line">
            <a:avLst/>
          </a:prstGeom>
          <a:ln w="762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18013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人工 ann1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1810512"/>
            <a:ext cx="3518262" cy="237744"/>
          </a:xfrm>
          <a:prstGeom prst="roundRect">
            <a:avLst>
              <a:gd name="adj" fmla="val 12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4574" y="18013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76.2%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4574" y="201168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0B0B0B"/>
                </a:solidFill>
                <a:latin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7614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DeepSeek-V4-Flash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2770632"/>
            <a:ext cx="4617720" cy="237744"/>
          </a:xfrm>
          <a:prstGeom prst="roundRect">
            <a:avLst>
              <a:gd name="adj" fmla="val 12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1" y="27614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100.0%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1" y="297180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0B0B0B"/>
                </a:solidFill>
                <a:latin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721607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GLM-5.3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" y="3730752"/>
            <a:ext cx="4397828" cy="237744"/>
          </a:xfrm>
          <a:prstGeom prst="roundRect">
            <a:avLst>
              <a:gd name="adj" fmla="val 12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94140" y="3721607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95.2%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140" y="39319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0B0B0B"/>
                </a:solidFill>
                <a:latin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6817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8989" y="46817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3420" y="46817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7850" y="46817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79" y="468172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7548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准确率（以 21 条裁决金标为准）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1463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0B0B0B"/>
                </a:solidFill>
                <a:latin typeface="Microsoft YaHei"/>
              </a:rPr>
              <a:t>两两一致性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7772400" y="1828800"/>
          <a:ext cx="3657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1430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  <a:latin typeface="Microsoft YaHei"/>
                        </a:rPr>
                        <a:t>标注员对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B0B0B"/>
                          </a:solidFill>
                          <a:latin typeface="Microsoft YaHei"/>
                        </a:rPr>
                        <a:t>κ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人工 vs DeepSeek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0.634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人工 vs GLM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0.701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DeepSeek vs GLM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0.929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772400" y="37947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模型之间高度一致，
但与人只有中等一致。
更像“规范执行差异”，
不是模型全面更强。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n=21；模型 prompt 含完整规范，人工只阅读文档；样本小，结论不外推。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错误集中在哪里：5 条人工错误，全是边界样本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69494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743200"/>
                <a:gridCol w="1234440"/>
                <a:gridCol w="1097280"/>
                <a:gridCol w="114300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B0B0B"/>
                          </a:solidFill>
                          <a:latin typeface="Microsoft YaHei"/>
                        </a:rPr>
                        <a:t>任务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B0B0B"/>
                          </a:solidFill>
                          <a:latin typeface="Microsoft YaHei"/>
                        </a:rPr>
                        <a:t>文本（截断）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B0B0B"/>
                          </a:solidFill>
                          <a:latin typeface="Microsoft YaHei"/>
                        </a:rPr>
                        <a:t>金标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B0B0B"/>
                          </a:solidFill>
                          <a:latin typeface="Microsoft YaHei"/>
                        </a:rPr>
                        <a:t>人工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B0B0B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T04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加微信领红包…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无法判断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中性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T05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还行。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中性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正面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T11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味道不错，但贵…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正面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中性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T20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分量一般，味道一般…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中性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负面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T22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地址 + 手机号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中性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正面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0B0B0B"/>
                          </a:solidFill>
                          <a:latin typeface="Microsoft YaHei"/>
                        </a:rPr>
                        <a:t>GLM ✗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92440" y="1417320"/>
            <a:ext cx="3337560" cy="393192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6459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0B0B0B"/>
                </a:solidFill>
                <a:latin typeface="Microsoft YaHei"/>
              </a:rPr>
              <a:t>三个发现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1031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A78D6"/>
                </a:solidFill>
                <a:latin typeface="Microsoft YaHei"/>
              </a:rPr>
              <a:t>5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2130551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人工错误都落在边界样本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06323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A78D6"/>
                </a:solidFill>
                <a:latin typeface="Microsoft YaHei"/>
              </a:rPr>
              <a:t>4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3090671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是“中性 / 无法判断”混淆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023359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A78D6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4050791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GLM 唯一错误：隐私文本判正面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0B0B0B"/>
                </a:solidFill>
                <a:latin typeface="Microsoft YaHei"/>
              </a:rPr>
              <a:t>含义：规范不是“写出来”就够了，边界样本需要试标、校准和低置信度复核。模型可以作为预标注，但必须保留人工裁决。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金标来源：16 条全体一致 + 5 条按规范裁决；错误列表来自 model_comparison.csv。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置信度校准：高置信度不等于高正确率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9144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1737360"/>
                <a:gridCol w="173736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0B0B"/>
                          </a:solidFill>
                          <a:latin typeface="Microsoft YaHei"/>
                        </a:rPr>
                        <a:t>标注员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B0B0B"/>
                          </a:solidFill>
                          <a:latin typeface="Microsoft YaHei"/>
                        </a:rPr>
                        <a:t>置信度 5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B0B0B"/>
                          </a:solidFill>
                          <a:latin typeface="Microsoft YaHei"/>
                        </a:rPr>
                        <a:t>置信度 4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B0B0B"/>
                          </a:solidFill>
                          <a:latin typeface="Microsoft YaHei"/>
                        </a:rPr>
                        <a:t>置信度 3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B0B0B"/>
                          </a:solidFill>
                          <a:latin typeface="Microsoft YaHei"/>
                        </a:rPr>
                        <a:t>置信度 ≤2</a:t>
                      </a:r>
                    </a:p>
                  </a:txBody>
                  <a:tcPr marL="73152" marR="73152" marT="27432" marB="27432" anchor="ctr">
                    <a:solidFill>
                      <a:srgbClr val="F0EF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人工 ann1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90.9% (11)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62.5% (8)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0% (1)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100% (1)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DeepSeek-V4-Flash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100% (12)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100% (9)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7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GLM-5.3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100% (10)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100% (9)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50% (2)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0B0B0B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7763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人工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置信度 5 仍有 1 条错；
置信度 4 只有 62.5%。
→ 不能只复核低置信度。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97763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29768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置信度几乎全在 4–5，
区分度不足，不能直接当
“自动通过”信号。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准确率 = 与裁决金标一致；括号内为样本数。样本小，只作流程演示。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改进：把边界规则写死，把复核资源花在低置信度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356616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2A78D6"/>
                </a:solidFill>
                <a:latin typeface="Microsoft YaHei"/>
              </a:rPr>
              <a:t>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广告 / 隐私 / 超短 / 混合四类写成判定句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7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“无”与其他标签互斥，避免多选污染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数字归一化写入评测口径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291840" cy="356616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2A78D6"/>
                </a:solidFill>
                <a:latin typeface="Microsoft YaHei"/>
              </a:rPr>
              <a:t>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试标从 3 条扩到 8–10 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2607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置信度 ≤3 的样本 100% 复核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4903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每轮输出 per-label κ，低于 0.6 单独校准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17320"/>
            <a:ext cx="3291840" cy="3566160"/>
          </a:xfrm>
          <a:prstGeom prst="roundRect">
            <a:avLst>
              <a:gd name="adj" fmla="val 12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45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2A78D6"/>
                </a:solidFill>
                <a:latin typeface="Microsoft YaHei"/>
              </a:rPr>
              <a:t>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模型预标注，人工只审分歧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92607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脚本自动生成分歧表与报告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4903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52514E"/>
                </a:solidFill>
                <a:latin typeface="Microsoft YaHei"/>
              </a:rPr>
              <a:t>· 记录 token / 延迟 / 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0B0B0B"/>
                </a:solidFill>
                <a:latin typeface="Microsoft YaHei"/>
              </a:rPr>
              <a:t>预期：边界样本错误从 5 条降到 ≤2 条；复核量集中到低置信度，而不是全量重标。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190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下一轮可用同一批任务复标，对比 κ 与人工准确率是否提升。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0B0B0B"/>
                </a:solidFill>
                <a:latin typeface="Microsoft YaHei"/>
              </a:rPr>
              <a:t>结论与局限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566928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898781"/>
                </a:solidFill>
                <a:latin typeface="Microsoft YaHei"/>
              </a:rPr>
              <a:t>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2A78D6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64792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规范可执行，但边界样本是主要风险：人工 5/21 偏离规范。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2A78D6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24912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模型间一致性高（κ 0.929），与人只有 0.63–0.70；可做预标注，不替代人工。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2A78D6"/>
                </a:solidFill>
                <a:latin typeface="Microsoft Ya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85032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语音修正有效（CER −80.2%）；图像需第二人复标才能算 IAA。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898781"/>
                </a:solidFill>
                <a:latin typeface="Microsoft YaHei"/>
              </a:rPr>
              <a:t>局限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· 样本量小：正式集 21 条，κ 置信区间宽。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· 条件不对等：模型 prompt 含完整规范。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718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· 人工只有 1 人，图像无第二人复标。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2514E"/>
                </a:solidFill>
                <a:latin typeface="Microsoft YaHei"/>
              </a:rPr>
              <a:t>· 语音为 TTS 合成 + 受控错误。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74920"/>
            <a:ext cx="10744200" cy="18288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2514E"/>
                </a:solidFill>
                <a:latin typeface="Microsoft YaHei"/>
              </a:rPr>
              <a:t>复现：start_label_studio.bat + start_data_server.bat → scripts/analyze.py → scripts/compare_models.py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898781"/>
                </a:solidFill>
                <a:latin typeface="Microsoft YaHei"/>
              </a:rPr>
              <a:t>仓库：configs/ · data/ · scripts/ · 标注规范.md · reports/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898781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